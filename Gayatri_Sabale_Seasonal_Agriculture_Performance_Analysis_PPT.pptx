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6" y="2281531"/>
            <a:ext cx="9326459" cy="1147469"/>
          </a:xfrm>
        </p:spPr>
        <p:txBody>
          <a:bodyPr vert="horz" lIns="91440" tIns="45720" rIns="91440" bIns="45720" rtlCol="0" anchor="t">
            <a:normAutofit fontScale="92500" lnSpcReduction="20000"/>
          </a:bodyPr>
          <a:lstStyle/>
          <a:p>
            <a:r>
              <a:rPr lang="en-US" sz="2200" b="0" dirty="0">
                <a:solidFill>
                  <a:schemeClr val="tx1"/>
                </a:solidFill>
              </a:rPr>
              <a:t>Student Name - </a:t>
            </a:r>
            <a:r>
              <a:rPr lang="en-US" sz="2400" b="0" dirty="0">
                <a:solidFill>
                  <a:schemeClr val="tx1"/>
                </a:solidFill>
              </a:rPr>
              <a:t>GAYATRI SATISH SABALE</a:t>
            </a:r>
            <a:endParaRPr lang="en-IN" sz="2400" b="0" dirty="0">
              <a:solidFill>
                <a:schemeClr val="tx1"/>
              </a:solidFill>
            </a:endParaRPr>
          </a:p>
          <a:p>
            <a:endParaRPr lang="en-IN" sz="2200" dirty="0">
              <a:solidFill>
                <a:schemeClr val="tx1"/>
              </a:solidFill>
            </a:endParaRPr>
          </a:p>
          <a:p>
            <a:r>
              <a:rPr lang="en-US" b="0" dirty="0">
                <a:solidFill>
                  <a:schemeClr val="tx1"/>
                </a:solidFill>
              </a:rPr>
              <a:t>College Name - </a:t>
            </a:r>
            <a:r>
              <a:rPr lang="en-IN" sz="2400" b="0" dirty="0">
                <a:solidFill>
                  <a:schemeClr val="tx1"/>
                </a:solidFill>
              </a:rPr>
              <a:t>Sanjivani College of Engineering, Kopargoan</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1037969"/>
            <a:ext cx="10714314" cy="921462"/>
          </a:xfrm>
        </p:spPr>
        <p:txBody>
          <a:bodyPr>
            <a:normAutofit fontScale="90000"/>
          </a:bodyPr>
          <a:lstStyle/>
          <a:p>
            <a:r>
              <a:rPr lang="en-GB" sz="3200" dirty="0"/>
              <a:t>Project Title- </a:t>
            </a:r>
            <a:r>
              <a:rPr lang="en-IN" sz="3200" dirty="0"/>
              <a:t>Seasonal Agriculture Performance Analysis</a:t>
            </a:r>
            <a:br>
              <a:rPr lang="en-IN" sz="3200"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74441" y="4576469"/>
            <a:ext cx="8108302" cy="430887"/>
          </a:xfrm>
          <a:prstGeom prst="rect">
            <a:avLst/>
          </a:prstGeom>
          <a:noFill/>
        </p:spPr>
        <p:txBody>
          <a:bodyPr wrap="square" rtlCol="0">
            <a:spAutoFit/>
          </a:bodyPr>
          <a:lstStyle/>
          <a:p>
            <a:r>
              <a:rPr lang="en-US" sz="2200" b="1" dirty="0"/>
              <a:t>AICTE STU ID :  STU6a6c2c088adf31785474056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3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4058713"/>
          </a:xfrm>
        </p:spPr>
        <p:txBody>
          <a:bodyPr vert="horz" lIns="91440" tIns="45720" rIns="91440" bIns="45720" rtlCol="0" anchor="t">
            <a:normAutofit fontScale="77500" lnSpcReduction="20000"/>
          </a:bodyPr>
          <a:lstStyle/>
          <a:p>
            <a:r>
              <a:rPr lang="en-IN" sz="2800" dirty="0"/>
              <a:t>Agricultural performance can change from one season to another because of factors such as weather, farming practices, resource usage and market conditions.</a:t>
            </a:r>
          </a:p>
          <a:p>
            <a:r>
              <a:rPr lang="en-IN" sz="2800" dirty="0"/>
              <a:t>The given dataset contains information about agricultural activities, environmental conditions, crop production, resource usage and economic performance.</a:t>
            </a:r>
          </a:p>
          <a:p>
            <a:r>
              <a:rPr lang="en-IN" sz="2800" dirty="0"/>
              <a:t>The main aim of this project is to study the dataset and find out how agricultural performance changes across different seasons. The analysis focuses on finding differences, patterns and relationships in the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8" y="244358"/>
            <a:ext cx="5528900" cy="884646"/>
          </a:xfrm>
        </p:spPr>
        <p:txBody>
          <a:bodyPr>
            <a:normAutofit fontScale="90000"/>
          </a:bodyPr>
          <a:lstStyle/>
          <a:p>
            <a:r>
              <a:rPr lang="en-GB" dirty="0"/>
              <a:t>Project Description</a:t>
            </a:r>
            <a:br>
              <a:rPr lang="en-GB" dirty="0"/>
            </a:br>
            <a:br>
              <a:rPr lang="en-GB" dirty="0"/>
            </a:br>
            <a:br>
              <a:rPr lang="en-IN" sz="2200" b="0" dirty="0"/>
            </a:br>
            <a:endParaRPr lang="en-IN" sz="22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a:extLst>
              <a:ext uri="{FF2B5EF4-FFF2-40B4-BE49-F238E27FC236}">
                <a16:creationId xmlns:a16="http://schemas.microsoft.com/office/drawing/2014/main" id="{735ADED6-AE86-FF15-D1BE-7A88B5B63B35}"/>
              </a:ext>
            </a:extLst>
          </p:cNvPr>
          <p:cNvSpPr txBox="1"/>
          <p:nvPr/>
        </p:nvSpPr>
        <p:spPr>
          <a:xfrm>
            <a:off x="675957" y="1558212"/>
            <a:ext cx="9046541" cy="5047536"/>
          </a:xfrm>
          <a:prstGeom prst="rect">
            <a:avLst/>
          </a:prstGeom>
          <a:noFill/>
        </p:spPr>
        <p:txBody>
          <a:bodyPr wrap="square" rtlCol="0">
            <a:spAutoFit/>
          </a:bodyPr>
          <a:lstStyle/>
          <a:p>
            <a:pPr marL="285750" indent="-285750">
              <a:buFont typeface="Wingdings" panose="05000000000000000000" pitchFamily="2" charset="2"/>
              <a:buChar char="§"/>
            </a:pPr>
            <a:r>
              <a:rPr lang="en-IN" sz="2200" dirty="0"/>
              <a:t>In this project, I </a:t>
            </a:r>
            <a:r>
              <a:rPr lang="en-IN" sz="2200" dirty="0" err="1"/>
              <a:t>analyzed</a:t>
            </a:r>
            <a:r>
              <a:rPr lang="en-IN" sz="2200" dirty="0"/>
              <a:t> an agricultural dataset containing information about different crops, seasons, locations, farming conditions and resource usage.</a:t>
            </a:r>
          </a:p>
          <a:p>
            <a:pPr marL="285750" indent="-285750">
              <a:buFont typeface="Wingdings" panose="05000000000000000000" pitchFamily="2" charset="2"/>
              <a:buChar char="§"/>
            </a:pPr>
            <a:r>
              <a:rPr lang="en-IN" sz="2200" dirty="0"/>
              <a:t>First, I explored the dataset to understand the columns and data types. Then I checked missing values and duplicate records and prepared the data for analysis.</a:t>
            </a:r>
          </a:p>
          <a:p>
            <a:pPr marL="285750" indent="-285750">
              <a:buFont typeface="Wingdings" panose="05000000000000000000" pitchFamily="2" charset="2"/>
              <a:buChar char="§"/>
            </a:pPr>
            <a:r>
              <a:rPr lang="en-IN" sz="2200" dirty="0"/>
              <a:t>After cleaning the data, I compared agricultural performance across Kharif, Rabi and Zaid seasons. I also studied yield, production, profit, revenue, costs, water usage, fertilizer usage and environmental conditions.</a:t>
            </a:r>
          </a:p>
          <a:p>
            <a:pPr marL="285750" indent="-285750">
              <a:buFont typeface="Wingdings" panose="05000000000000000000" pitchFamily="2" charset="2"/>
              <a:buChar char="§"/>
            </a:pPr>
            <a:r>
              <a:rPr lang="en-IN" sz="2200" dirty="0"/>
              <a:t>Different graphs and statistical methods were used to understand the differences between seasons. Finally, I identified the main observations and gave some recommendations based on the results.</a:t>
            </a:r>
          </a:p>
          <a:p>
            <a:endParaRPr lang="en-IN" dirty="0"/>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r>
              <a:rPr lang="en-IN" sz="3600" b="1" dirty="0">
                <a:solidFill>
                  <a:schemeClr val="tx1"/>
                </a:solidFill>
              </a:rPr>
              <a:t>Farmers</a:t>
            </a:r>
          </a:p>
          <a:p>
            <a:pPr marL="0" indent="0">
              <a:buNone/>
            </a:pPr>
            <a:r>
              <a:rPr lang="en-IN" sz="3600" dirty="0">
                <a:solidFill>
                  <a:schemeClr val="tx1"/>
                </a:solidFill>
              </a:rPr>
              <a:t>	Can understand which seasons and farming conditions are 	giving better results.</a:t>
            </a:r>
          </a:p>
          <a:p>
            <a:r>
              <a:rPr lang="en-IN" sz="3600" b="1" dirty="0">
                <a:solidFill>
                  <a:schemeClr val="tx1"/>
                </a:solidFill>
              </a:rPr>
              <a:t>Agricultural Planners</a:t>
            </a:r>
          </a:p>
          <a:p>
            <a:pPr marL="0" indent="0">
              <a:buNone/>
            </a:pPr>
            <a:r>
              <a:rPr lang="en-IN" sz="3600" dirty="0">
                <a:solidFill>
                  <a:schemeClr val="tx1"/>
                </a:solidFill>
              </a:rPr>
              <a:t>	Can use seasonal information while planning agricultural 	activities.</a:t>
            </a:r>
          </a:p>
          <a:p>
            <a:r>
              <a:rPr lang="en-IN" sz="3600" b="1" dirty="0">
                <a:solidFill>
                  <a:schemeClr val="tx1"/>
                </a:solidFill>
              </a:rPr>
              <a:t>Agricultural Researchers</a:t>
            </a:r>
          </a:p>
          <a:p>
            <a:pPr marL="0" indent="0">
              <a:buNone/>
            </a:pPr>
            <a:r>
              <a:rPr lang="en-IN" sz="3600" dirty="0">
                <a:solidFill>
                  <a:schemeClr val="tx1"/>
                </a:solidFill>
              </a:rPr>
              <a:t>	Can study relationships between environmental conditions and 	crop performance.</a:t>
            </a:r>
          </a:p>
          <a:p>
            <a:r>
              <a:rPr lang="en-IN" sz="3600" b="1" dirty="0">
                <a:solidFill>
                  <a:schemeClr val="tx1"/>
                </a:solidFill>
              </a:rPr>
              <a:t>Government and Agricultural Departments</a:t>
            </a:r>
          </a:p>
          <a:p>
            <a:pPr marL="0" indent="0">
              <a:buNone/>
            </a:pPr>
            <a:r>
              <a:rPr lang="en-IN" sz="3600" dirty="0">
                <a:solidFill>
                  <a:schemeClr val="tx1"/>
                </a:solidFill>
              </a:rPr>
              <a:t>	Can use the findings as supporting information for seasonal 	planning and resource management.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090056" y="1175657"/>
            <a:ext cx="8285585" cy="5654527"/>
          </a:xfrm>
        </p:spPr>
        <p:txBody>
          <a:bodyPr>
            <a:normAutofit fontScale="25000" lnSpcReduction="20000"/>
          </a:bodyPr>
          <a:lstStyle/>
          <a:p>
            <a:r>
              <a:rPr lang="en-IN" sz="6200" b="1" dirty="0">
                <a:solidFill>
                  <a:schemeClr val="tx1">
                    <a:lumMod val="95000"/>
                    <a:lumOff val="5000"/>
                  </a:schemeClr>
                </a:solidFill>
              </a:rPr>
              <a:t>Python</a:t>
            </a:r>
          </a:p>
          <a:p>
            <a:pPr marL="0" indent="0">
              <a:buNone/>
            </a:pPr>
            <a:r>
              <a:rPr lang="en-IN" sz="6200" dirty="0">
                <a:solidFill>
                  <a:schemeClr val="tx1">
                    <a:lumMod val="95000"/>
                    <a:lumOff val="5000"/>
                  </a:schemeClr>
                </a:solidFill>
              </a:rPr>
              <a:t>	Used for data analysis and calculations.</a:t>
            </a:r>
          </a:p>
          <a:p>
            <a:r>
              <a:rPr lang="en-IN" sz="6200" b="1" dirty="0">
                <a:solidFill>
                  <a:schemeClr val="tx1">
                    <a:lumMod val="95000"/>
                    <a:lumOff val="5000"/>
                  </a:schemeClr>
                </a:solidFill>
              </a:rPr>
              <a:t>Pandas</a:t>
            </a:r>
          </a:p>
          <a:p>
            <a:pPr marL="0" indent="0">
              <a:buNone/>
            </a:pPr>
            <a:r>
              <a:rPr lang="en-IN" sz="6200" dirty="0">
                <a:solidFill>
                  <a:schemeClr val="tx1">
                    <a:lumMod val="95000"/>
                    <a:lumOff val="5000"/>
                  </a:schemeClr>
                </a:solidFill>
              </a:rPr>
              <a:t>	Used for reading, cleaning and </a:t>
            </a:r>
            <a:r>
              <a:rPr lang="en-IN" sz="6200" dirty="0" err="1">
                <a:solidFill>
                  <a:schemeClr val="tx1">
                    <a:lumMod val="95000"/>
                    <a:lumOff val="5000"/>
                  </a:schemeClr>
                </a:solidFill>
              </a:rPr>
              <a:t>analyzing</a:t>
            </a:r>
            <a:r>
              <a:rPr lang="en-IN" sz="6200" dirty="0">
                <a:solidFill>
                  <a:schemeClr val="tx1">
                    <a:lumMod val="95000"/>
                    <a:lumOff val="5000"/>
                  </a:schemeClr>
                </a:solidFill>
              </a:rPr>
              <a:t> the dataset.</a:t>
            </a:r>
          </a:p>
          <a:p>
            <a:r>
              <a:rPr lang="en-IN" sz="6200" b="1" dirty="0">
                <a:solidFill>
                  <a:schemeClr val="tx1">
                    <a:lumMod val="95000"/>
                    <a:lumOff val="5000"/>
                  </a:schemeClr>
                </a:solidFill>
              </a:rPr>
              <a:t>NumPy</a:t>
            </a:r>
          </a:p>
          <a:p>
            <a:pPr marL="0" indent="0">
              <a:buNone/>
            </a:pPr>
            <a:r>
              <a:rPr lang="en-IN" sz="6200" dirty="0">
                <a:solidFill>
                  <a:schemeClr val="tx1">
                    <a:lumMod val="95000"/>
                    <a:lumOff val="5000"/>
                  </a:schemeClr>
                </a:solidFill>
              </a:rPr>
              <a:t>	Used for numerical calculations.</a:t>
            </a:r>
          </a:p>
          <a:p>
            <a:r>
              <a:rPr lang="en-IN" sz="6200" b="1" dirty="0">
                <a:solidFill>
                  <a:schemeClr val="tx1">
                    <a:lumMod val="95000"/>
                    <a:lumOff val="5000"/>
                  </a:schemeClr>
                </a:solidFill>
              </a:rPr>
              <a:t>Matplotlib</a:t>
            </a:r>
          </a:p>
          <a:p>
            <a:pPr marL="0" indent="0">
              <a:buNone/>
            </a:pPr>
            <a:r>
              <a:rPr lang="en-IN" sz="6200" dirty="0">
                <a:solidFill>
                  <a:schemeClr val="tx1">
                    <a:lumMod val="95000"/>
                    <a:lumOff val="5000"/>
                  </a:schemeClr>
                </a:solidFill>
              </a:rPr>
              <a:t>	Used for creating graphs and charts.</a:t>
            </a:r>
          </a:p>
          <a:p>
            <a:r>
              <a:rPr lang="en-IN" sz="6200" b="1" dirty="0">
                <a:solidFill>
                  <a:schemeClr val="tx1">
                    <a:lumMod val="95000"/>
                    <a:lumOff val="5000"/>
                  </a:schemeClr>
                </a:solidFill>
              </a:rPr>
              <a:t>SciPy</a:t>
            </a:r>
          </a:p>
          <a:p>
            <a:pPr marL="0" indent="0">
              <a:buNone/>
            </a:pPr>
            <a:r>
              <a:rPr lang="en-IN" sz="6200" dirty="0">
                <a:solidFill>
                  <a:schemeClr val="tx1">
                    <a:lumMod val="95000"/>
                    <a:lumOff val="5000"/>
                  </a:schemeClr>
                </a:solidFill>
              </a:rPr>
              <a:t>	Used for statistical analysis.</a:t>
            </a:r>
          </a:p>
          <a:p>
            <a:r>
              <a:rPr lang="en-IN" sz="6200" b="1" dirty="0">
                <a:solidFill>
                  <a:schemeClr val="tx1">
                    <a:lumMod val="95000"/>
                    <a:lumOff val="5000"/>
                  </a:schemeClr>
                </a:solidFill>
              </a:rPr>
              <a:t>Jupyter Notebook</a:t>
            </a:r>
          </a:p>
          <a:p>
            <a:pPr marL="0" indent="0">
              <a:buNone/>
            </a:pPr>
            <a:r>
              <a:rPr lang="en-IN" sz="6200" dirty="0">
                <a:solidFill>
                  <a:schemeClr val="tx1">
                    <a:lumMod val="95000"/>
                    <a:lumOff val="5000"/>
                  </a:schemeClr>
                </a:solidFill>
              </a:rPr>
              <a:t>	Used to write and document the complete project.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02740961-3623-F9EA-1973-E7DC65FDE1A7}"/>
              </a:ext>
            </a:extLst>
          </p:cNvPr>
          <p:cNvSpPr txBox="1"/>
          <p:nvPr/>
        </p:nvSpPr>
        <p:spPr>
          <a:xfrm>
            <a:off x="8780106" y="2127380"/>
            <a:ext cx="3029340" cy="2585323"/>
          </a:xfrm>
          <a:prstGeom prst="rect">
            <a:avLst/>
          </a:prstGeom>
          <a:noFill/>
        </p:spPr>
        <p:txBody>
          <a:bodyPr wrap="square" rtlCol="0">
            <a:spAutoFit/>
          </a:bodyPr>
          <a:lstStyle/>
          <a:p>
            <a:r>
              <a:rPr lang="en-IN" b="1" dirty="0"/>
              <a:t>Observation:</a:t>
            </a:r>
          </a:p>
          <a:p>
            <a:r>
              <a:rPr lang="en-IN" dirty="0"/>
              <a:t>I compared the average yield of Kharif, Rabi and Zaid seasons. Kharif has the highest average yield, while Zaid has the lowest average yield. This shows that crop yield changes with the season.</a:t>
            </a:r>
          </a:p>
        </p:txBody>
      </p:sp>
      <p:pic>
        <p:nvPicPr>
          <p:cNvPr id="10" name="Picture 9">
            <a:extLst>
              <a:ext uri="{FF2B5EF4-FFF2-40B4-BE49-F238E27FC236}">
                <a16:creationId xmlns:a16="http://schemas.microsoft.com/office/drawing/2014/main" id="{06FB9CE9-E005-4AF0-56EB-1D7FC380C379}"/>
              </a:ext>
            </a:extLst>
          </p:cNvPr>
          <p:cNvPicPr>
            <a:picLocks noChangeAspect="1"/>
          </p:cNvPicPr>
          <p:nvPr/>
        </p:nvPicPr>
        <p:blipFill>
          <a:blip r:embed="rId3"/>
          <a:stretch>
            <a:fillRect/>
          </a:stretch>
        </p:blipFill>
        <p:spPr>
          <a:xfrm>
            <a:off x="503851" y="1201586"/>
            <a:ext cx="8108303" cy="514323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6" name="TextBox 5">
            <a:extLst>
              <a:ext uri="{FF2B5EF4-FFF2-40B4-BE49-F238E27FC236}">
                <a16:creationId xmlns:a16="http://schemas.microsoft.com/office/drawing/2014/main" id="{E3934F37-1C50-627A-F0A1-C21EE1007944}"/>
              </a:ext>
            </a:extLst>
          </p:cNvPr>
          <p:cNvSpPr txBox="1"/>
          <p:nvPr/>
        </p:nvSpPr>
        <p:spPr>
          <a:xfrm>
            <a:off x="8370406" y="1670453"/>
            <a:ext cx="3340359" cy="3139321"/>
          </a:xfrm>
          <a:prstGeom prst="rect">
            <a:avLst/>
          </a:prstGeom>
          <a:noFill/>
        </p:spPr>
        <p:txBody>
          <a:bodyPr wrap="square" rtlCol="0">
            <a:spAutoFit/>
          </a:bodyPr>
          <a:lstStyle/>
          <a:p>
            <a:r>
              <a:rPr lang="en-IN" b="1" dirty="0"/>
              <a:t>Observation:</a:t>
            </a:r>
            <a:r>
              <a:rPr lang="en-IN" dirty="0"/>
              <a:t> </a:t>
            </a:r>
          </a:p>
          <a:p>
            <a:r>
              <a:rPr lang="en-IN" dirty="0"/>
              <a:t>I compared the environmental conditions across different seasons. The rainfall and temperature values vary between Kharif, Rabi and Zaid seasons. These changes in environmental conditions can affect crop performance and are useful for understanding seasonal differences.</a:t>
            </a:r>
          </a:p>
        </p:txBody>
      </p:sp>
      <p:pic>
        <p:nvPicPr>
          <p:cNvPr id="11" name="Picture 10">
            <a:extLst>
              <a:ext uri="{FF2B5EF4-FFF2-40B4-BE49-F238E27FC236}">
                <a16:creationId xmlns:a16="http://schemas.microsoft.com/office/drawing/2014/main" id="{C050BB5E-9718-FD39-8473-5BAC629B60DA}"/>
              </a:ext>
            </a:extLst>
          </p:cNvPr>
          <p:cNvPicPr>
            <a:picLocks noChangeAspect="1"/>
          </p:cNvPicPr>
          <p:nvPr/>
        </p:nvPicPr>
        <p:blipFill>
          <a:blip r:embed="rId3"/>
          <a:stretch>
            <a:fillRect/>
          </a:stretch>
        </p:blipFill>
        <p:spPr>
          <a:xfrm>
            <a:off x="320982" y="1275371"/>
            <a:ext cx="7689255" cy="519654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6" name="TextBox 5">
            <a:extLst>
              <a:ext uri="{FF2B5EF4-FFF2-40B4-BE49-F238E27FC236}">
                <a16:creationId xmlns:a16="http://schemas.microsoft.com/office/drawing/2014/main" id="{645DD8D7-2099-E0C3-A9EF-5C239EE977E5}"/>
              </a:ext>
            </a:extLst>
          </p:cNvPr>
          <p:cNvSpPr txBox="1"/>
          <p:nvPr/>
        </p:nvSpPr>
        <p:spPr>
          <a:xfrm>
            <a:off x="9097347" y="1651518"/>
            <a:ext cx="2773671" cy="3970318"/>
          </a:xfrm>
          <a:prstGeom prst="rect">
            <a:avLst/>
          </a:prstGeom>
          <a:noFill/>
        </p:spPr>
        <p:txBody>
          <a:bodyPr wrap="square" rtlCol="0">
            <a:spAutoFit/>
          </a:bodyPr>
          <a:lstStyle/>
          <a:p>
            <a:r>
              <a:rPr lang="en-IN" b="1" dirty="0"/>
              <a:t>Observation:</a:t>
            </a:r>
          </a:p>
          <a:p>
            <a:r>
              <a:rPr lang="en-IN" dirty="0"/>
              <a:t> I compared the use of water, fertilizer and other resources across different seasons. The results show that resource usage changes between seasons. Water usage and water efficiency help to understand how resources are being used for agricultural activities.</a:t>
            </a:r>
          </a:p>
        </p:txBody>
      </p:sp>
      <p:pic>
        <p:nvPicPr>
          <p:cNvPr id="11" name="Picture 10">
            <a:extLst>
              <a:ext uri="{FF2B5EF4-FFF2-40B4-BE49-F238E27FC236}">
                <a16:creationId xmlns:a16="http://schemas.microsoft.com/office/drawing/2014/main" id="{EEAE042C-5018-8D87-90F4-27AD40E32DF2}"/>
              </a:ext>
            </a:extLst>
          </p:cNvPr>
          <p:cNvPicPr>
            <a:picLocks noChangeAspect="1"/>
          </p:cNvPicPr>
          <p:nvPr/>
        </p:nvPicPr>
        <p:blipFill>
          <a:blip r:embed="rId3"/>
          <a:stretch>
            <a:fillRect/>
          </a:stretch>
        </p:blipFill>
        <p:spPr>
          <a:xfrm>
            <a:off x="419878" y="1201586"/>
            <a:ext cx="8332236" cy="527033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6" name="TextBox 5">
            <a:extLst>
              <a:ext uri="{FF2B5EF4-FFF2-40B4-BE49-F238E27FC236}">
                <a16:creationId xmlns:a16="http://schemas.microsoft.com/office/drawing/2014/main" id="{1346A19C-8BBB-B235-4B80-0E12809EE4E0}"/>
              </a:ext>
            </a:extLst>
          </p:cNvPr>
          <p:cNvSpPr txBox="1"/>
          <p:nvPr/>
        </p:nvSpPr>
        <p:spPr>
          <a:xfrm>
            <a:off x="9326014" y="1466093"/>
            <a:ext cx="2677886" cy="3693319"/>
          </a:xfrm>
          <a:prstGeom prst="rect">
            <a:avLst/>
          </a:prstGeom>
          <a:noFill/>
        </p:spPr>
        <p:txBody>
          <a:bodyPr wrap="square" rtlCol="0">
            <a:spAutoFit/>
          </a:bodyPr>
          <a:lstStyle/>
          <a:p>
            <a:r>
              <a:rPr lang="en-IN" b="1" dirty="0"/>
              <a:t>Observation:</a:t>
            </a:r>
          </a:p>
          <a:p>
            <a:r>
              <a:rPr lang="en-IN" dirty="0"/>
              <a:t> I compared the revenue, total cost and profit across different seasons. The results show that the economic performance is different for each season. Profit comparison helps to understand which season gives better financial performance.</a:t>
            </a:r>
          </a:p>
        </p:txBody>
      </p:sp>
      <p:pic>
        <p:nvPicPr>
          <p:cNvPr id="11" name="Picture 10">
            <a:extLst>
              <a:ext uri="{FF2B5EF4-FFF2-40B4-BE49-F238E27FC236}">
                <a16:creationId xmlns:a16="http://schemas.microsoft.com/office/drawing/2014/main" id="{B5390B85-CE4B-47AE-44D6-37C9670566CF}"/>
              </a:ext>
            </a:extLst>
          </p:cNvPr>
          <p:cNvPicPr>
            <a:picLocks noChangeAspect="1"/>
          </p:cNvPicPr>
          <p:nvPr/>
        </p:nvPicPr>
        <p:blipFill>
          <a:blip r:embed="rId3"/>
          <a:stretch>
            <a:fillRect/>
          </a:stretch>
        </p:blipFill>
        <p:spPr>
          <a:xfrm>
            <a:off x="447869" y="1201586"/>
            <a:ext cx="8518850" cy="514323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6" name="TextBox 5">
            <a:extLst>
              <a:ext uri="{FF2B5EF4-FFF2-40B4-BE49-F238E27FC236}">
                <a16:creationId xmlns:a16="http://schemas.microsoft.com/office/drawing/2014/main" id="{41957858-5D72-F63A-941D-0ADD1EB6A33E}"/>
              </a:ext>
            </a:extLst>
          </p:cNvPr>
          <p:cNvSpPr txBox="1"/>
          <p:nvPr/>
        </p:nvSpPr>
        <p:spPr>
          <a:xfrm>
            <a:off x="8920065" y="1431693"/>
            <a:ext cx="2950953" cy="3970318"/>
          </a:xfrm>
          <a:prstGeom prst="rect">
            <a:avLst/>
          </a:prstGeom>
          <a:noFill/>
        </p:spPr>
        <p:txBody>
          <a:bodyPr wrap="square" rtlCol="0">
            <a:spAutoFit/>
          </a:bodyPr>
          <a:lstStyle/>
          <a:p>
            <a:r>
              <a:rPr lang="en-IN" b="1" dirty="0"/>
              <a:t>Observation:</a:t>
            </a:r>
          </a:p>
          <a:p>
            <a:r>
              <a:rPr lang="en-IN" dirty="0"/>
              <a:t>I compared the average yield of different crops across Kharif, Rabi and Zaid seasons. Sugarcane has the highest yield in all three seasons, while pulses and cotton have comparatively lower yields. The graph also shows that Kharif generally has higher crop yield than Rabi and Zaid.</a:t>
            </a:r>
          </a:p>
          <a:p>
            <a:endParaRPr lang="en-IN" dirty="0"/>
          </a:p>
        </p:txBody>
      </p:sp>
      <p:pic>
        <p:nvPicPr>
          <p:cNvPr id="11" name="Picture 10">
            <a:extLst>
              <a:ext uri="{FF2B5EF4-FFF2-40B4-BE49-F238E27FC236}">
                <a16:creationId xmlns:a16="http://schemas.microsoft.com/office/drawing/2014/main" id="{7AB29DB3-F3F3-E747-75D4-14C23E097A48}"/>
              </a:ext>
            </a:extLst>
          </p:cNvPr>
          <p:cNvPicPr>
            <a:picLocks noChangeAspect="1"/>
          </p:cNvPicPr>
          <p:nvPr/>
        </p:nvPicPr>
        <p:blipFill>
          <a:blip r:embed="rId3"/>
          <a:stretch>
            <a:fillRect/>
          </a:stretch>
        </p:blipFill>
        <p:spPr>
          <a:xfrm>
            <a:off x="457200" y="1275370"/>
            <a:ext cx="8070259" cy="519654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FCB89-757E-7C0E-6DD1-738DF33A00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9D0A39-0DDA-C297-8BC9-AA63F1639C1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72B3EFB-1F68-9B33-58B8-E03969067E6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6DD50ED-9F23-DEE9-6C72-6437394B446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8FCF203-D37D-2FAD-1E56-9C480FEA6D2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FDEE198-6F0D-CB00-7C60-380A7B89A363}"/>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6" name="TextBox 5">
            <a:extLst>
              <a:ext uri="{FF2B5EF4-FFF2-40B4-BE49-F238E27FC236}">
                <a16:creationId xmlns:a16="http://schemas.microsoft.com/office/drawing/2014/main" id="{221CA6B7-318B-ADB0-0CDC-58E12F7FD4F6}"/>
              </a:ext>
            </a:extLst>
          </p:cNvPr>
          <p:cNvSpPr txBox="1"/>
          <p:nvPr/>
        </p:nvSpPr>
        <p:spPr>
          <a:xfrm>
            <a:off x="9209314" y="1431693"/>
            <a:ext cx="2817845" cy="4801314"/>
          </a:xfrm>
          <a:prstGeom prst="rect">
            <a:avLst/>
          </a:prstGeom>
          <a:noFill/>
        </p:spPr>
        <p:txBody>
          <a:bodyPr wrap="square" rtlCol="0">
            <a:spAutoFit/>
          </a:bodyPr>
          <a:lstStyle/>
          <a:p>
            <a:r>
              <a:rPr lang="en-IN" b="1" dirty="0"/>
              <a:t>Observation:</a:t>
            </a:r>
          </a:p>
          <a:p>
            <a:r>
              <a:rPr lang="en-IN" dirty="0"/>
              <a:t>I compared the average profit across different states and seasons. Kharif shows higher profit in most of the states, while Zaid profit varies and is negative in some states. Punjab shows relatively high profit in Rabi and Zaid compared with other states. The results show that profit changes depending on both the state and the season.</a:t>
            </a:r>
          </a:p>
          <a:p>
            <a:endParaRPr lang="en-IN" dirty="0"/>
          </a:p>
        </p:txBody>
      </p:sp>
      <p:pic>
        <p:nvPicPr>
          <p:cNvPr id="11" name="Picture 10">
            <a:extLst>
              <a:ext uri="{FF2B5EF4-FFF2-40B4-BE49-F238E27FC236}">
                <a16:creationId xmlns:a16="http://schemas.microsoft.com/office/drawing/2014/main" id="{74DBE57E-3915-09CC-2410-83B096D0E736}"/>
              </a:ext>
            </a:extLst>
          </p:cNvPr>
          <p:cNvPicPr>
            <a:picLocks noChangeAspect="1"/>
          </p:cNvPicPr>
          <p:nvPr/>
        </p:nvPicPr>
        <p:blipFill>
          <a:blip r:embed="rId3"/>
          <a:stretch>
            <a:fillRect/>
          </a:stretch>
        </p:blipFill>
        <p:spPr>
          <a:xfrm>
            <a:off x="320983" y="1164262"/>
            <a:ext cx="8683058" cy="5105908"/>
          </a:xfrm>
          <a:prstGeom prst="rect">
            <a:avLst/>
          </a:prstGeom>
        </p:spPr>
      </p:pic>
    </p:spTree>
    <p:extLst>
      <p:ext uri="{BB962C8B-B14F-4D97-AF65-F5344CB8AC3E}">
        <p14:creationId xmlns:p14="http://schemas.microsoft.com/office/powerpoint/2010/main" val="347616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998376" y="1275370"/>
            <a:ext cx="7669763" cy="4388311"/>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l">
              <a:buFont typeface="Wingdings" panose="05000000000000000000" pitchFamily="2" charset="2"/>
              <a:buChar char="§"/>
            </a:pPr>
            <a:r>
              <a:rPr lang="en-IN" sz="2000" dirty="0"/>
              <a:t>More years of agricultural data can be added for better comparison.</a:t>
            </a:r>
          </a:p>
          <a:p>
            <a:pPr marL="342900" lvl="0" indent="-342900" algn="l">
              <a:buFont typeface="Arial" panose="020B0604020202020204" pitchFamily="34" charset="0"/>
              <a:buChar char="•"/>
            </a:pPr>
            <a:r>
              <a:rPr lang="en-IN" sz="2000" dirty="0"/>
              <a:t>More regions and crop types can be studied.</a:t>
            </a:r>
          </a:p>
          <a:p>
            <a:pPr marL="342900" lvl="0" indent="-342900" algn="l">
              <a:buFont typeface="Wingdings" panose="05000000000000000000" pitchFamily="2" charset="2"/>
              <a:buChar char="§"/>
            </a:pPr>
            <a:r>
              <a:rPr lang="en-IN" sz="2000" dirty="0"/>
              <a:t>Weather data can be included in more detail.</a:t>
            </a:r>
          </a:p>
          <a:p>
            <a:pPr marL="342900" lvl="0" indent="-342900" algn="l">
              <a:buFont typeface="Wingdings" panose="05000000000000000000" pitchFamily="2" charset="2"/>
              <a:buChar char="§"/>
            </a:pPr>
            <a:r>
              <a:rPr lang="en-IN" sz="2000" dirty="0"/>
              <a:t>Crop price changes can be </a:t>
            </a:r>
            <a:r>
              <a:rPr lang="en-IN" sz="2000" dirty="0" err="1"/>
              <a:t>analyzed</a:t>
            </a:r>
            <a:r>
              <a:rPr lang="en-IN" sz="2000" dirty="0"/>
              <a:t> along with production.</a:t>
            </a:r>
          </a:p>
          <a:p>
            <a:pPr marL="342900" lvl="0" indent="-342900" algn="l">
              <a:buFont typeface="Wingdings" panose="05000000000000000000" pitchFamily="2" charset="2"/>
              <a:buChar char="§"/>
            </a:pPr>
            <a:r>
              <a:rPr lang="en-IN" sz="2000" dirty="0"/>
              <a:t>A prediction model can be developed to estimate crop yield.</a:t>
            </a:r>
          </a:p>
          <a:p>
            <a:pPr marL="342900" lvl="0" indent="-342900" algn="l">
              <a:buFont typeface="Wingdings" panose="05000000000000000000" pitchFamily="2" charset="2"/>
              <a:buChar char="§"/>
            </a:pPr>
            <a:r>
              <a:rPr lang="en-IN" sz="2000" dirty="0"/>
              <a:t>A simple dashboard can be created to make the results easier to understand.</a:t>
            </a:r>
          </a:p>
          <a:p>
            <a:pPr marL="342900" lvl="0" indent="-342900" algn="l">
              <a:buFont typeface="Wingdings" panose="05000000000000000000" pitchFamily="2" charset="2"/>
              <a:buChar char="§"/>
            </a:pPr>
            <a:r>
              <a:rPr lang="en-IN" sz="2000" dirty="0"/>
              <a:t>The analysis can be updated regularly when new agricultural data is available.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IN" dirty="0"/>
              <a:t>https://github.com/sabalegayatri23/VOIS-AICTE-Seasonal-Agriculture-Performance-Analysis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97D4705-1627-D8CC-8564-F56713A5604E}"/>
              </a:ext>
            </a:extLst>
          </p:cNvPr>
          <p:cNvPicPr>
            <a:picLocks noChangeAspect="1"/>
          </p:cNvPicPr>
          <p:nvPr/>
        </p:nvPicPr>
        <p:blipFill>
          <a:blip r:embed="rId3"/>
          <a:stretch>
            <a:fillRect/>
          </a:stretch>
        </p:blipFill>
        <p:spPr>
          <a:xfrm>
            <a:off x="849086" y="1427583"/>
            <a:ext cx="9116008" cy="523737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408922" y="2001796"/>
            <a:ext cx="8797760" cy="2414695"/>
          </a:xfrm>
        </p:spPr>
        <p:txBody>
          <a:bodyPr>
            <a:normAutofit/>
          </a:bodyPr>
          <a:lstStyle/>
          <a:p>
            <a:r>
              <a:rPr lang="en-IN" b="0" dirty="0">
                <a:solidFill>
                  <a:schemeClr val="tx1"/>
                </a:solidFill>
              </a:rPr>
              <a:t>Seasonal Agriculture Performance Analysis</a:t>
            </a:r>
          </a:p>
          <a:p>
            <a:r>
              <a:rPr lang="en-IN" b="0" dirty="0">
                <a:solidFill>
                  <a:schemeClr val="tx1"/>
                </a:solidFill>
              </a:rPr>
              <a:t>Presented by:</a:t>
            </a:r>
            <a:br>
              <a:rPr lang="en-IN" b="0" dirty="0">
                <a:solidFill>
                  <a:schemeClr val="tx1"/>
                </a:solidFill>
              </a:rPr>
            </a:br>
            <a:r>
              <a:rPr lang="en-IN" b="0" dirty="0">
                <a:solidFill>
                  <a:schemeClr val="tx1"/>
                </a:solidFill>
              </a:rPr>
              <a:t>Gayatri Satish Sabale</a:t>
            </a:r>
          </a:p>
          <a:p>
            <a:r>
              <a:rPr lang="en-IN" b="0" dirty="0">
                <a:solidFill>
                  <a:schemeClr val="tx1"/>
                </a:solidFill>
              </a:rPr>
              <a:t>Sanjivani College of Engineering, Kopargoan</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1467</TotalTime>
  <Words>778</Words>
  <Application>Microsoft Office PowerPoint</Application>
  <PresentationFormat>Widescreen</PresentationFormat>
  <Paragraphs>72</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gayatri sabale</cp:lastModifiedBy>
  <cp:revision>109</cp:revision>
  <dcterms:created xsi:type="dcterms:W3CDTF">2021-07-11T13:13:15Z</dcterms:created>
  <dcterms:modified xsi:type="dcterms:W3CDTF">2026-09-09T11:24:35Z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